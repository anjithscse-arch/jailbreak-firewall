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FINAL YEAR B.TECH CAPSTONE PROJECT REVIEW</a:t>
            </a:r>
          </a:p>
          <a:p>
            <a:pPr>
              <a:spcAft>
                <a:spcPts val="1400"/>
              </a:spcAft>
              <a:defRPr sz="3200" b="1">
                <a:solidFill>
                  <a:srgbClr val="FFFFFF"/>
                </a:solidFill>
              </a:defRPr>
            </a:pPr>
            <a:r>
              <a:t>AI Prompt Injection and Jailbreak Detection Firewall</a:t>
            </a:r>
          </a:p>
          <a:p>
            <a:pPr>
              <a:spcAft>
                <a:spcPts val="2500"/>
              </a:spcAft>
              <a:defRPr sz="1800">
                <a:solidFill>
                  <a:srgbClr val="94A3B8"/>
                </a:solidFill>
              </a:defRPr>
            </a:pPr>
            <a:r>
              <a:t>A Two-Layer Explainable Security Gateway for Large Language Models using LIME</a:t>
            </a:r>
          </a:p>
          <a:p>
            <a:pPr>
              <a:spcAft>
                <a:spcPts val="2000"/>
              </a:spcAft>
              <a:defRPr sz="1200" i="1">
                <a:solidFill>
                  <a:srgbClr val="10B981"/>
                </a:solidFill>
              </a:defRPr>
            </a:pPr>
            <a:r>
              <a:t>Based on: 'JailbreakTracer: Explainable Detection of Jailbreaking Prompts in LLMs Using Synthetic Data Generation' (IEEE Access, Vol. 13, 2025)</a:t>
            </a:r>
          </a:p>
          <a:p>
            <a:pPr>
              <a:defRPr sz="1300">
                <a:solidFill>
                  <a:srgbClr val="CBD5E1"/>
                </a:solidFill>
              </a:defRPr>
            </a:pPr>
            <a:r>
              <a:t>Department of Computer Science and Engineering |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B.TECH COMPUTER SCIENCE &amp; ENGINEERING - FINAL YEAR PROJECT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Base Paper: Table 1 - Summary of Gap Analysis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645920"/>
            <a:ext cx="10332720" cy="6858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719072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F172A"/>
                </a:solidFill>
              </a:defRPr>
            </a:pPr>
            <a:r>
              <a:t>Dataset Diversity: </a:t>
            </a:r>
            <a:r>
              <a:rPr b="0">
                <a:solidFill>
                  <a:srgbClr val="1E293B"/>
                </a:solidFill>
              </a:rPr>
              <a:t>Gap: Existing datasets manually curated with few samples, leading to class imbalance and poor generalization. </a:t>
            </a:r>
          </a:p>
          <a:p>
            <a:pPr>
              <a:defRPr sz="1000">
                <a:solidFill>
                  <a:srgbClr val="2563EB"/>
                </a:solidFill>
              </a:defRPr>
            </a:pPr>
            <a:r>
              <a:t>JailbreakTracer Solution: Combines real-world with synthetic prompts to balance representations.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423160"/>
            <a:ext cx="10332720" cy="6858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496312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F172A"/>
                </a:solidFill>
              </a:defRPr>
            </a:pPr>
            <a:r>
              <a:t>Synthetic Data Generation: </a:t>
            </a:r>
            <a:r>
              <a:rPr b="0">
                <a:solidFill>
                  <a:srgbClr val="1E293B"/>
                </a:solidFill>
              </a:rPr>
              <a:t>Gap: Few studies generate synthetic adversarial prompts, limiting dataset diversity and model robustness. </a:t>
            </a:r>
          </a:p>
          <a:p>
            <a:pPr>
              <a:defRPr sz="1000">
                <a:solidFill>
                  <a:srgbClr val="2563EB"/>
                </a:solidFill>
              </a:defRPr>
            </a:pPr>
            <a:r>
              <a:t>JailbreakTracer Solution: Fine-tunes GPT exclusively on jailbreaks to produce realistic variations.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200400"/>
            <a:ext cx="10332720" cy="6858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273552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F172A"/>
                </a:solidFill>
              </a:defRPr>
            </a:pPr>
            <a:r>
              <a:t>Explainability: </a:t>
            </a:r>
            <a:r>
              <a:rPr b="0">
                <a:solidFill>
                  <a:srgbClr val="1E293B"/>
                </a:solidFill>
              </a:rPr>
              <a:t>Gap: Current models function as black-box solutions, offering minimal interpretability. </a:t>
            </a:r>
          </a:p>
          <a:p>
            <a:pPr>
              <a:defRPr sz="1000">
                <a:solidFill>
                  <a:srgbClr val="2563EB"/>
                </a:solidFill>
              </a:defRPr>
            </a:pPr>
            <a:r>
              <a:t>JailbreakTracer Solution: Integrates LIME for transparent token-level feature attribution bar charts.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977639"/>
            <a:ext cx="10332720" cy="6858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4050791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F172A"/>
                </a:solidFill>
              </a:defRPr>
            </a:pPr>
            <a:r>
              <a:t>Mitigation of Novel Attacks: </a:t>
            </a:r>
            <a:r>
              <a:rPr b="0">
                <a:solidFill>
                  <a:srgbClr val="1E293B"/>
                </a:solidFill>
              </a:rPr>
              <a:t>Gap: Heuristic and rule-based approaches fail to adapt to evolving adversarial strategies. </a:t>
            </a:r>
          </a:p>
          <a:p>
            <a:pPr>
              <a:defRPr sz="1000">
                <a:solidFill>
                  <a:srgbClr val="2563EB"/>
                </a:solidFill>
              </a:defRPr>
            </a:pPr>
            <a:r>
              <a:t>JailbreakTracer Solution: Transformer architectures capture long-range semantic linguistic cues.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4754880"/>
            <a:ext cx="10332720" cy="6858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828032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F172A"/>
                </a:solidFill>
              </a:defRPr>
            </a:pPr>
            <a:r>
              <a:t>Reasoning-Based Classification: </a:t>
            </a:r>
            <a:r>
              <a:rPr b="0">
                <a:solidFill>
                  <a:srgbClr val="1E293B"/>
                </a:solidFill>
              </a:rPr>
              <a:t>Gap: Lack of intent-based categorization of forbidden queries. </a:t>
            </a:r>
          </a:p>
          <a:p>
            <a:pPr>
              <a:defRPr sz="1000">
                <a:solidFill>
                  <a:srgbClr val="2563EB"/>
                </a:solidFill>
              </a:defRPr>
            </a:pPr>
            <a:r>
              <a:t>JailbreakTracer Solution: 13-scenario forbidden question classifier categorizing ethical/functional harm.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5532120"/>
            <a:ext cx="10332720" cy="6858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5605272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F172A"/>
                </a:solidFill>
              </a:defRPr>
            </a:pPr>
            <a:r>
              <a:t>Scalability &amp; Unified Framework: </a:t>
            </a:r>
            <a:r>
              <a:rPr b="0">
                <a:solidFill>
                  <a:srgbClr val="1E293B"/>
                </a:solidFill>
              </a:rPr>
              <a:t>Gap: Manual red-teaming not scalable; lack of unified attack generation and defense. </a:t>
            </a:r>
          </a:p>
          <a:p>
            <a:pPr>
              <a:defRPr sz="1000">
                <a:solidFill>
                  <a:srgbClr val="2563EB"/>
                </a:solidFill>
              </a:defRPr>
            </a:pPr>
            <a:r>
              <a:t>JailbreakTracer Solution: Automated high-throughput pipeline integrating generation, detection, and XAI.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B.TECH COMPUTER SCIENCE &amp; ENGINEERING - FINAL YEAR PROJECT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Base Paper: Dataset Design &amp; Augmentation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645920"/>
            <a:ext cx="5029200" cy="4572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Toxic Prompt Classification 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286000"/>
            <a:ext cx="44805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Raw Imbalanced Dataset: 16,029 Benign prompts (89.1%) vs 1,952 Jailbreak prompts (10.9%).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Class Imbalance Challenge: Severe skew leads to models under-detecting adversarial attacks.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Synthetic Augmentation: Fine-tuned GPT generated synthetic jailbreak prompts (95.1% ASR).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Balanced Dataset (Fig. 3): Equalized to 16,029 Benign + 16,029 Jailbreak = 32,058 Total Samples.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Data Cleaning: Deduplication, noise removal, tokenization using Byte Pair Encoding (BPE, max length 128).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029200" cy="4572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Forbidden Question Reasoning Dataset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2286000"/>
            <a:ext cx="44805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13 Distinct Scenarios: 8,250 samples per category = 107,250 total samples (Fig. 4).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Illegal Activity (0), Hate Speech (1), Malware Generation (2), Physical Harm (3), Economic Harm (4).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Fraud (5), Pornography (6), Political Lobbying (7), Privacy Violence (8), Legal Opinion (9).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Financial Advice (10), Health Consultation (11), Government Decision (12).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Semi-Automated Pipeline: Inter-annotator agreement Cohen's Kappa score = 0.87 (high reliability).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B.TECH COMPUTER SCIENCE &amp; ENGINEERING - FINAL YEAR PROJECT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Base Paper: Mathematical Foundations &amp; Loss Functions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645920"/>
            <a:ext cx="10332720" cy="7772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719072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0F172A"/>
                </a:solidFill>
              </a:defRPr>
            </a:pPr>
            <a:r>
              <a:t>Positional Encodings (Eq. 2)</a:t>
            </a:r>
          </a:p>
          <a:p>
            <a:pPr>
              <a:defRPr sz="1000">
                <a:solidFill>
                  <a:srgbClr val="2563EB"/>
                </a:solidFill>
              </a:defRPr>
            </a:pPr>
            <a:r>
              <a:t>PE(i, 2j) = sin( i / 10000^(2j/d) ),   PE(i, 2j+1) = cos( i / 10000^(2j/d) )  --&gt;  Preserves sequential order across token dimensions.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560320"/>
            <a:ext cx="10332720" cy="7772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633472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0F172A"/>
                </a:solidFill>
              </a:defRPr>
            </a:pPr>
            <a:r>
              <a:t>Multi-Headed Attention (Eq. 3)</a:t>
            </a:r>
          </a:p>
          <a:p>
            <a:pPr>
              <a:defRPr sz="1000">
                <a:solidFill>
                  <a:srgbClr val="2563EB"/>
                </a:solidFill>
              </a:defRPr>
            </a:pPr>
            <a:r>
              <a:t>Attention(Q, K, V) = softmax( (Q * K^T) / sqrt(d_k) ) * V  --&gt;  Computes dependencies between words across input sequences.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474720"/>
            <a:ext cx="10332720" cy="7772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547872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0F172A"/>
                </a:solidFill>
              </a:defRPr>
            </a:pPr>
            <a:r>
              <a:t>Feedforward Network (Eq. 4)</a:t>
            </a:r>
          </a:p>
          <a:p>
            <a:pPr>
              <a:defRPr sz="1000">
                <a:solidFill>
                  <a:srgbClr val="2563EB"/>
                </a:solidFill>
              </a:defRPr>
            </a:pPr>
            <a:r>
              <a:t>FFN(x) = max(0, x * W1 + b1) * W2 + b2  --&gt;  Two linear transformations with ReLU activation for non-linear feature projection.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4389120"/>
            <a:ext cx="10332720" cy="7772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4462272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0F172A"/>
                </a:solidFill>
              </a:defRPr>
            </a:pPr>
            <a:r>
              <a:t>Sigmoid Output (Eq. 5)</a:t>
            </a:r>
          </a:p>
          <a:p>
            <a:pPr>
              <a:defRPr sz="1000">
                <a:solidFill>
                  <a:srgbClr val="2563EB"/>
                </a:solidFill>
              </a:defRPr>
            </a:pPr>
            <a:r>
              <a:t>y_pred = sigma(Wh + b) = 1 / (1 + e^-(Wh + b))  --&gt;  Maps hidden representations to an attack probability score between 0 and 1.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5303520"/>
            <a:ext cx="10332720" cy="7772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5376672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0F172A"/>
                </a:solidFill>
              </a:defRPr>
            </a:pPr>
            <a:r>
              <a:t>Binary Cross-Entropy Loss (Eq. 6)</a:t>
            </a:r>
          </a:p>
          <a:p>
            <a:pPr>
              <a:defRPr sz="1000">
                <a:solidFill>
                  <a:srgbClr val="2563EB"/>
                </a:solidFill>
              </a:defRPr>
            </a:pPr>
            <a:r>
              <a:t>L = - (1/N) * sum[ y_i * log(y_pred_i) + (1 - y_i) * log(1 - y_pred_i) ]  --&gt;  Supervised objective optimized via AdamW with linear decay scheduler.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B.TECH COMPUTER SCIENCE &amp; ENGINEERING - FINAL YEAR PROJECT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Base Paper: Key Results &amp; State-of-the-Art Benchmarks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645920"/>
            <a:ext cx="5029200" cy="4572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Table 4: Classifier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286000"/>
            <a:ext cx="44805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JailBreakRoBERTa (Selected Best):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  • Accuracy: 97.25% (vs JailBreakBERT 96.74%)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  • Precision: 98.18% (vs JailBreakBERT 96.03%)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  • Recall: 96.28% (vs JailBreakBERT 97.50%)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  • F1-Score: 97.22% (vs JailBreakBERT 96.76%)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Forbidden Question Classifier: 100% Accuracy across all 13 categories (Fig. 8).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Synthetic GPT Attack Success: 95.1% on BERT, 91.9% on Llama-3.2-1B, 84.5% on GPT-3.5.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029200" cy="4572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Table 7: State-of-the-Art Comparison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2286000"/>
            <a:ext cx="44805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JailbreakTracer (Base Paper): 97.25% Acc | 91.90% ASR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Llama Guard (Meta AI 2023): 94.50% Acc | 37.32% ASR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AutoDefense (NeurIPS 2024): 92.91% Acc | 55.74% ASR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LLM Self Defense (ICLR 2024): 77.00% Acc | N/A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SmoothLLM (Robey 2023): N/A | 92.00% ASR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JailbreakHub (Shen 2024): N/A | 96.00% ASR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AutoDAN (Liu 2024): N/A | 70.00% ASR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Key Takeaway: JailbreakTracer achieves the highest detection accuracy (97.25%) while providing XAI transparency.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B.TECH COMPUTER SCIENCE &amp; ENGINEERING - FINAL YEAR PROJECT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Our System Architecture: Adapted from Base Paper</a:t>
            </a:r>
          </a:p>
        </p:txBody>
      </p:sp>
      <p:pic>
        <p:nvPicPr>
          <p:cNvPr id="3" name="Picture 2" descr="firewall_architecture_clean_178896582248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45920"/>
            <a:ext cx="6583680" cy="3674612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772400" y="1645920"/>
            <a:ext cx="3474720" cy="4572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0" y="18288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How We Operationalize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79" y="2286000"/>
            <a:ext cx="31089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• Operational Deployment: While the base paper operated in Jupyter notebooks, we engineered an inline, live REST API firewall.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• Two-Layer Synergy: Layer 1 Rule Engine (&lt;1ms) handles obvious attacks; Layer 2 ML Model handles semantic variations.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• LIME XAI Integration: Directly implements Section IV.F and Figure 9 to output token-level importance bars.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• Active Learning Feedback: Security Database automatically accumulates attacks to retrain the ML model.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